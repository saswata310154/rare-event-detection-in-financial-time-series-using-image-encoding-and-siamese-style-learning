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57" r:id="rId4"/>
    <p:sldId id="271" r:id="rId5"/>
    <p:sldId id="258" r:id="rId6"/>
    <p:sldId id="270" r:id="rId7"/>
    <p:sldId id="259" r:id="rId8"/>
    <p:sldId id="260" r:id="rId9"/>
    <p:sldId id="261" r:id="rId10"/>
    <p:sldId id="262" r:id="rId11"/>
    <p:sldId id="263" r:id="rId12"/>
    <p:sldId id="268" r:id="rId13"/>
    <p:sldId id="269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107" d="100"/>
          <a:sy n="107" d="100"/>
        </p:scale>
        <p:origin x="174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C8FF6-E9E2-41C5-87DA-E617A7BE028E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7A3A9-4D27-4272-B805-15AA24BB2A0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D6CED-AC82-44F9-9A30-C815ABF97FE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E8B68-B3E0-4544-B5C8-BBDE0B4D18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908720"/>
            <a:ext cx="7772400" cy="1470025"/>
          </a:xfrm>
        </p:spPr>
        <p:txBody>
          <a:bodyPr>
            <a:normAutofit fontScale="90000"/>
          </a:bodyPr>
          <a:lstStyle/>
          <a:p>
            <a:pPr lvl="0"/>
            <a:r>
              <a:rPr lang="en-US" b="1" spc="-139" dirty="0">
                <a:solidFill>
                  <a:srgbClr val="1A1A1A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Financial Time Series Analysis with Deep Learning</a:t>
            </a:r>
            <a:br>
              <a:rPr lang="en-US" spc="-139" dirty="0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7624" y="2552700"/>
            <a:ext cx="6400800" cy="3900636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mo"/>
                <a:cs typeface="Times New Roman" pitchFamily="18" charset="0"/>
              </a:rPr>
              <a:t>Saswata Sarkar(96/DTS/240016)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mo"/>
                <a:cs typeface="Times New Roman" pitchFamily="18" charset="0"/>
              </a:rPr>
              <a:t>Upasana Deb (96/DTS/240023)</a:t>
            </a:r>
          </a:p>
          <a:p>
            <a:endParaRPr lang="en-US" dirty="0">
              <a:latin typeface="Arimo"/>
            </a:endParaRPr>
          </a:p>
          <a:p>
            <a:endParaRPr lang="en-US" dirty="0">
              <a:latin typeface="Arimo"/>
            </a:endParaRPr>
          </a:p>
          <a:p>
            <a:endParaRPr lang="en-US" dirty="0">
              <a:latin typeface="Arimo"/>
            </a:endParaRPr>
          </a:p>
          <a:p>
            <a:r>
              <a:rPr lang="en-US" dirty="0">
                <a:solidFill>
                  <a:schemeClr val="tx1"/>
                </a:solidFill>
                <a:latin typeface="Arimo"/>
              </a:rPr>
              <a:t>Under the supervision of:</a:t>
            </a:r>
          </a:p>
          <a:p>
            <a:r>
              <a:rPr lang="en-US" dirty="0">
                <a:solidFill>
                  <a:schemeClr val="tx1"/>
                </a:solidFill>
                <a:latin typeface="Arimo"/>
              </a:rPr>
              <a:t>Prof. (Dr.) Anirban Mukhopadhyay</a:t>
            </a:r>
          </a:p>
          <a:p>
            <a:r>
              <a:rPr lang="en-US" dirty="0">
                <a:solidFill>
                  <a:schemeClr val="tx1"/>
                </a:solidFill>
                <a:latin typeface="Arimo"/>
              </a:rPr>
              <a:t>Department of CSE</a:t>
            </a:r>
          </a:p>
          <a:p>
            <a:r>
              <a:rPr lang="en-US" dirty="0">
                <a:solidFill>
                  <a:schemeClr val="tx1"/>
                </a:solidFill>
                <a:latin typeface="Arimo"/>
              </a:rPr>
              <a:t>University of Kalyani</a:t>
            </a:r>
          </a:p>
          <a:p>
            <a:endParaRPr lang="en-US" dirty="0">
              <a:solidFill>
                <a:schemeClr val="tx1"/>
              </a:solidFill>
              <a:latin typeface="Arimo"/>
            </a:endParaRPr>
          </a:p>
          <a:p>
            <a:r>
              <a:rPr lang="en-US" dirty="0">
                <a:solidFill>
                  <a:schemeClr val="tx1"/>
                </a:solidFill>
                <a:latin typeface="Arimo"/>
              </a:rPr>
              <a:t>January 27, 2026</a:t>
            </a:r>
          </a:p>
          <a:p>
            <a:endParaRPr lang="en-US" dirty="0">
              <a:solidFill>
                <a:schemeClr val="tx1"/>
              </a:solidFill>
              <a:latin typeface="Arimo"/>
            </a:endParaRPr>
          </a:p>
          <a:p>
            <a:endParaRPr lang="en-US" dirty="0">
              <a:solidFill>
                <a:schemeClr val="tx1"/>
              </a:solidFill>
              <a:latin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Arimo" charset="0"/>
                <a:ea typeface="Arimo" charset="0"/>
                <a:cs typeface="Arimo" charset="0"/>
              </a:rPr>
              <a:t>The central research problem addressed in this thesis is: </a:t>
            </a:r>
          </a:p>
          <a:p>
            <a:pPr algn="ctr">
              <a:buNone/>
            </a:pPr>
            <a:r>
              <a:rPr lang="en-US" b="1" i="1" dirty="0">
                <a:latin typeface="Arimo" charset="0"/>
                <a:ea typeface="Arimo" charset="0"/>
                <a:cs typeface="Arimo" charset="0"/>
              </a:rPr>
              <a:t>How can we effectively and reliably detect rare negative fluctuations in financial time series given severe class imbalance, limited labeled data, and the complex temporal structure of market behavior?</a:t>
            </a:r>
          </a:p>
          <a:p>
            <a:pPr algn="ctr">
              <a:buNone/>
            </a:pPr>
            <a:r>
              <a:rPr lang="en-US" i="1" dirty="0">
                <a:latin typeface="Arimo" charset="0"/>
                <a:ea typeface="Arimo" charset="0"/>
                <a:cs typeface="Arimo" charset="0"/>
              </a:rPr>
              <a:t>Data set: </a:t>
            </a:r>
            <a:r>
              <a:rPr lang="en-US" i="1">
                <a:latin typeface="Arimo" charset="0"/>
                <a:ea typeface="Arimo" charset="0"/>
                <a:cs typeface="Arimo" charset="0"/>
              </a:rPr>
              <a:t>TESLA  ( TSLA) Daily Stock</a:t>
            </a:r>
            <a:endParaRPr lang="en-US" i="1" dirty="0">
              <a:latin typeface="Arimo" charset="0"/>
              <a:ea typeface="Arimo" charset="0"/>
              <a:cs typeface="Arimo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The Challenge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lnSpc>
                <a:spcPts val="5363"/>
              </a:lnSpc>
              <a:buFont typeface="Courier New" pitchFamily="49" charset="0"/>
              <a:buChar char="o"/>
            </a:pPr>
            <a:r>
              <a:rPr lang="en-US" b="1" dirty="0">
                <a:latin typeface="Arimo"/>
                <a:ea typeface="Arimo Bold"/>
                <a:cs typeface="Arimo Bold"/>
                <a:sym typeface="Arimo"/>
              </a:rPr>
              <a:t> </a:t>
            </a:r>
            <a:r>
              <a:rPr lang="en-US" b="1" dirty="0">
                <a:latin typeface="Arimo Bold"/>
                <a:ea typeface="Arimo Bold"/>
                <a:cs typeface="Arimo Bold"/>
                <a:sym typeface="Arimo Bold"/>
              </a:rPr>
              <a:t>Class Imbalance:</a:t>
            </a:r>
            <a:r>
              <a:rPr lang="en-US" dirty="0">
                <a:latin typeface="Arimo"/>
                <a:ea typeface="Arimo"/>
                <a:cs typeface="Arimo"/>
                <a:sym typeface="Arimo"/>
              </a:rPr>
              <a:t> Only 4.8% of observations are rare events</a:t>
            </a:r>
          </a:p>
          <a:p>
            <a:pPr marL="0" lvl="0" indent="0">
              <a:lnSpc>
                <a:spcPts val="5363"/>
              </a:lnSpc>
              <a:buFont typeface="Courier New" pitchFamily="49" charset="0"/>
              <a:buChar char="o"/>
            </a:pPr>
            <a:r>
              <a:rPr lang="en-US" b="1" dirty="0">
                <a:latin typeface="Arimo"/>
                <a:ea typeface="Arimo Bold"/>
                <a:cs typeface="Arimo Bold"/>
                <a:sym typeface="Arimo"/>
              </a:rPr>
              <a:t> </a:t>
            </a:r>
            <a:r>
              <a:rPr lang="en-US" b="1" dirty="0">
                <a:latin typeface="Arimo Bold"/>
                <a:ea typeface="Arimo Bold"/>
                <a:cs typeface="Arimo Bold"/>
                <a:sym typeface="Arimo Bold"/>
              </a:rPr>
              <a:t>Complex Patterns:</a:t>
            </a:r>
            <a:r>
              <a:rPr lang="en-US" dirty="0">
                <a:latin typeface="Arimo"/>
                <a:ea typeface="Arimo"/>
                <a:cs typeface="Arimo"/>
                <a:sym typeface="Arimo"/>
              </a:rPr>
              <a:t> Traditional models fail to capture temporal dynamics</a:t>
            </a:r>
          </a:p>
          <a:p>
            <a:pPr marL="0" lvl="0" indent="0">
              <a:lnSpc>
                <a:spcPts val="5363"/>
              </a:lnSpc>
              <a:buFont typeface="Courier New" pitchFamily="49" charset="0"/>
              <a:buChar char="o"/>
            </a:pPr>
            <a:r>
              <a:rPr lang="en-US" b="1" dirty="0">
                <a:latin typeface="Arimo"/>
                <a:ea typeface="Arimo Bold"/>
                <a:cs typeface="Arimo Bold"/>
                <a:sym typeface="Arimo"/>
              </a:rPr>
              <a:t> </a:t>
            </a:r>
            <a:r>
              <a:rPr lang="en-US" b="1" dirty="0">
                <a:latin typeface="Arimo Bold"/>
                <a:ea typeface="Arimo Bold"/>
                <a:cs typeface="Arimo Bold"/>
                <a:sym typeface="Arimo Bold"/>
              </a:rPr>
              <a:t>Limited Data:</a:t>
            </a:r>
            <a:r>
              <a:rPr lang="en-US" dirty="0">
                <a:latin typeface="Arimo"/>
                <a:ea typeface="Arimo"/>
                <a:cs typeface="Arimo"/>
                <a:sym typeface="Arimo"/>
              </a:rPr>
              <a:t> ~2,400 samples with only 116 labeled events</a:t>
            </a:r>
          </a:p>
          <a:p>
            <a:pPr marL="0" lvl="0" indent="0">
              <a:lnSpc>
                <a:spcPts val="5363"/>
              </a:lnSpc>
              <a:buFont typeface="Courier New" pitchFamily="49" charset="0"/>
              <a:buChar char="o"/>
            </a:pPr>
            <a:r>
              <a:rPr lang="en-US" b="1" dirty="0">
                <a:latin typeface="Arimo"/>
                <a:ea typeface="Arimo Bold"/>
                <a:cs typeface="Arimo Bold"/>
                <a:sym typeface="Arimo"/>
              </a:rPr>
              <a:t> </a:t>
            </a:r>
            <a:r>
              <a:rPr lang="en-US" b="1" dirty="0">
                <a:latin typeface="Arimo Bold"/>
                <a:ea typeface="Arimo Bold"/>
                <a:cs typeface="Arimo Bold"/>
                <a:sym typeface="Arimo Bold"/>
              </a:rPr>
              <a:t>High Dimensionality:</a:t>
            </a:r>
            <a:r>
              <a:rPr lang="en-US" dirty="0">
                <a:latin typeface="Arimo"/>
                <a:ea typeface="Arimo"/>
                <a:cs typeface="Arimo"/>
                <a:sym typeface="Arimo"/>
              </a:rPr>
              <a:t> 25-day windows × 3 features = 75D input space</a:t>
            </a:r>
          </a:p>
          <a:p>
            <a:pPr>
              <a:buFont typeface="Courier New" pitchFamily="49" charset="0"/>
              <a:buChar char="o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07D7-9DE3-8249-0059-AD515418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Motivation for Using Siamese Neural Networks</a:t>
            </a:r>
            <a:br>
              <a:rPr lang="en-US" sz="3600" b="1" dirty="0">
                <a:solidFill>
                  <a:schemeClr val="accent5"/>
                </a:solidFill>
              </a:rPr>
            </a:br>
            <a:endParaRPr lang="en-IN" sz="3600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76BF-F627-3A7C-7F9F-64584F54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Severe class imbalance makes conventional classifiers biased toward the majority class</a:t>
            </a:r>
          </a:p>
          <a:p>
            <a:r>
              <a:rPr lang="en-US" dirty="0"/>
              <a:t>Siamese networks learn from sample pairs, reducing sensitivity to class imbalance</a:t>
            </a:r>
          </a:p>
          <a:p>
            <a:r>
              <a:rPr lang="en-US" dirty="0"/>
              <a:t>Converts classification into similarity learning between event and non-event patterns</a:t>
            </a:r>
          </a:p>
          <a:p>
            <a:r>
              <a:rPr lang="en-US" dirty="0"/>
              <a:t>Effective with limited rare-event samples through pairwise data augmentation</a:t>
            </a:r>
          </a:p>
          <a:p>
            <a:r>
              <a:rPr lang="en-US" dirty="0"/>
              <a:t>Learns a discriminative embedding space with better generalization to unseen patterns</a:t>
            </a:r>
          </a:p>
          <a:p>
            <a:r>
              <a:rPr lang="en-US" dirty="0"/>
              <a:t>Enables interpretable, distance-based decisions with adjustable risk thresholds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05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Our Approach: 3-Step Pipeline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827116" lvl="1" indent="-413558">
              <a:lnSpc>
                <a:spcPts val="5363"/>
              </a:lnSpc>
              <a:buAutoNum type="arabicPeriod"/>
            </a:pPr>
            <a:r>
              <a:rPr lang="en-US" sz="3831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31" b="1" dirty="0">
                <a:latin typeface="Arimo"/>
                <a:ea typeface="Arimo"/>
                <a:cs typeface="Arimo"/>
                <a:sym typeface="Arimo"/>
              </a:rPr>
              <a:t>Image Encoding: </a:t>
            </a:r>
            <a:r>
              <a:rPr lang="en-US" sz="3831" dirty="0">
                <a:latin typeface="Arimo"/>
                <a:ea typeface="Arimo"/>
                <a:cs typeface="Arimo"/>
                <a:sym typeface="Arimo"/>
              </a:rPr>
              <a:t>Convert time- series windows into visual representations using snake-pattern traversal. </a:t>
            </a:r>
          </a:p>
          <a:p>
            <a:pPr marL="827116" lvl="1" indent="-413558">
              <a:lnSpc>
                <a:spcPts val="5363"/>
              </a:lnSpc>
              <a:buAutoNum type="arabicPeriod"/>
            </a:pPr>
            <a:r>
              <a:rPr lang="en-US" sz="3831" b="1" dirty="0">
                <a:latin typeface="Arimo"/>
                <a:ea typeface="Arimo"/>
                <a:cs typeface="Arimo"/>
                <a:sym typeface="Arimo"/>
              </a:rPr>
              <a:t>CNN Feature Extraction: </a:t>
            </a:r>
            <a:r>
              <a:rPr lang="en-US" sz="3831" dirty="0">
                <a:latin typeface="Arimo"/>
                <a:ea typeface="Arimo"/>
                <a:cs typeface="Arimo"/>
                <a:sym typeface="Arimo"/>
              </a:rPr>
              <a:t>Pre-trained VGG-16 extracts 4096- dimensional feature vectors.</a:t>
            </a:r>
          </a:p>
          <a:p>
            <a:pPr marL="827116" lvl="1" indent="-413558">
              <a:lnSpc>
                <a:spcPts val="5363"/>
              </a:lnSpc>
              <a:buAutoNum type="arabicPeriod"/>
            </a:pPr>
            <a:r>
              <a:rPr lang="en-US" sz="3831" b="1" dirty="0">
                <a:latin typeface="Arimo"/>
                <a:ea typeface="Arimo"/>
                <a:cs typeface="Arimo"/>
                <a:sym typeface="Arimo"/>
              </a:rPr>
              <a:t>Similarity Learning: </a:t>
            </a:r>
            <a:r>
              <a:rPr lang="en-US" sz="3831" dirty="0">
                <a:latin typeface="Arimo"/>
                <a:ea typeface="Arimo"/>
                <a:cs typeface="Arimo"/>
                <a:sym typeface="Arimo"/>
              </a:rPr>
              <a:t>Distance based classification using bootstrap distribution.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Image Encoding: Few Examples</a:t>
            </a:r>
            <a:endParaRPr lang="en-US" dirty="0"/>
          </a:p>
        </p:txBody>
      </p:sp>
      <p:pic>
        <p:nvPicPr>
          <p:cNvPr id="4" name="Content Placeholder 3" descr="image_encoding_summary.png"/>
          <p:cNvPicPr>
            <a:picLocks noGrp="1" noChangeAspect="1"/>
          </p:cNvPicPr>
          <p:nvPr>
            <p:ph idx="1"/>
          </p:nvPr>
        </p:nvPicPr>
        <p:blipFill>
          <a:blip r:embed="rId2"/>
          <a:srcRect t="18577"/>
          <a:stretch>
            <a:fillRect/>
          </a:stretch>
        </p:blipFill>
        <p:spPr>
          <a:xfrm>
            <a:off x="-857287" y="1428736"/>
            <a:ext cx="10001288" cy="548244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Rare Event Definition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8000"/>
              </a:lnSpc>
              <a:buNone/>
            </a:pPr>
            <a:r>
              <a:rPr lang="en-US" sz="2400" spc="-99" dirty="0">
                <a:latin typeface="Arimo" charset="0"/>
                <a:ea typeface="Arimo" charset="0"/>
                <a:cs typeface="Arimo" charset="0"/>
                <a:sym typeface="Arimo"/>
              </a:rPr>
              <a:t>Events are defined using future one-day percentage of closing price:</a:t>
            </a:r>
          </a:p>
          <a:p>
            <a:pPr>
              <a:lnSpc>
                <a:spcPts val="8000"/>
              </a:lnSpc>
              <a:buNone/>
            </a:pPr>
            <a:r>
              <a:rPr lang="en-US" sz="2400" spc="-99" dirty="0">
                <a:latin typeface="Arimo" charset="0"/>
                <a:ea typeface="Arimo" charset="0"/>
                <a:cs typeface="Arimo" charset="0"/>
                <a:sym typeface="Arimo"/>
              </a:rPr>
              <a:t> </a:t>
            </a:r>
            <a:endParaRPr lang="en-US" sz="2400" dirty="0">
              <a:latin typeface="Arimo" charset="0"/>
              <a:ea typeface="Arimo" charset="0"/>
              <a:cs typeface="Arimo" charset="0"/>
            </a:endParaRPr>
          </a:p>
          <a:p>
            <a:pPr marL="863599" lvl="1" indent="-431800">
              <a:lnSpc>
                <a:spcPts val="3999"/>
              </a:lnSpc>
              <a:buFont typeface="Arial"/>
              <a:buChar char="•"/>
            </a:pPr>
            <a:r>
              <a:rPr lang="en-US" sz="2400" spc="-99" dirty="0">
                <a:latin typeface="Arimo" charset="0"/>
                <a:ea typeface="Arimo" charset="0"/>
                <a:cs typeface="Arimo" charset="0"/>
                <a:sym typeface="Arimo"/>
              </a:rPr>
              <a:t>95th percentile: threshold used for final model</a:t>
            </a:r>
          </a:p>
          <a:p>
            <a:pPr marL="863599" lvl="1" indent="-431800">
              <a:lnSpc>
                <a:spcPts val="3999"/>
              </a:lnSpc>
              <a:buFont typeface="Arial"/>
              <a:buChar char="•"/>
            </a:pPr>
            <a:r>
              <a:rPr lang="en-US" sz="2400" spc="-99" dirty="0">
                <a:latin typeface="Arimo" charset="0"/>
                <a:ea typeface="Arimo" charset="0"/>
                <a:cs typeface="Arimo" charset="0"/>
                <a:sym typeface="Arimo"/>
              </a:rPr>
              <a:t>Event(1): Price drop below threshold</a:t>
            </a:r>
          </a:p>
          <a:p>
            <a:pPr marL="863599" lvl="1" indent="-431800">
              <a:lnSpc>
                <a:spcPts val="3999"/>
              </a:lnSpc>
              <a:buFont typeface="Arial"/>
              <a:buChar char="•"/>
            </a:pPr>
            <a:r>
              <a:rPr lang="en-US" sz="2400" spc="-99" dirty="0">
                <a:latin typeface="Arimo" charset="0"/>
                <a:ea typeface="Arimo" charset="0"/>
                <a:cs typeface="Arimo" charset="0"/>
                <a:sym typeface="Arimo"/>
              </a:rPr>
              <a:t>Non-event(0): Normal market movement</a:t>
            </a:r>
          </a:p>
          <a:p>
            <a:pPr marL="863599" lvl="1" indent="-431800">
              <a:lnSpc>
                <a:spcPts val="3999"/>
              </a:lnSpc>
              <a:buFont typeface="Arial"/>
              <a:buChar char="•"/>
            </a:pPr>
            <a:r>
              <a:rPr lang="en-US" sz="2400" spc="-99" dirty="0">
                <a:latin typeface="Arimo" charset="0"/>
                <a:ea typeface="Arimo" charset="0"/>
                <a:cs typeface="Arimo" charset="0"/>
                <a:sym typeface="Arimo"/>
              </a:rPr>
              <a:t>Result: 116 events, 2251 non-events (4.8% class frequency)</a:t>
            </a:r>
          </a:p>
          <a:p>
            <a:endParaRPr lang="en-US" sz="2400" dirty="0">
              <a:latin typeface="Arimo" charset="0"/>
              <a:ea typeface="Arimo" charset="0"/>
              <a:cs typeface="Arimo" charset="0"/>
            </a:endParaRPr>
          </a:p>
        </p:txBody>
      </p:sp>
      <p:sp>
        <p:nvSpPr>
          <p:cNvPr id="5" name="Round Diagonal Corner Rectangle 4"/>
          <p:cNvSpPr/>
          <p:nvPr/>
        </p:nvSpPr>
        <p:spPr>
          <a:xfrm>
            <a:off x="1187624" y="2924944"/>
            <a:ext cx="5143536" cy="78581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-99" dirty="0" err="1">
                <a:latin typeface="Arimo" charset="0"/>
                <a:ea typeface="Arimo" charset="0"/>
                <a:cs typeface="Arimo" charset="0"/>
                <a:sym typeface="Arimo"/>
              </a:rPr>
              <a:t>pct_change</a:t>
            </a:r>
            <a:r>
              <a:rPr lang="en-US" spc="-99" dirty="0">
                <a:latin typeface="Arimo" charset="0"/>
                <a:ea typeface="Arimo" charset="0"/>
                <a:cs typeface="Arimo" charset="0"/>
                <a:sym typeface="Arimo"/>
              </a:rPr>
              <a:t> = (close(t+1)-close(t))/close(t)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900" b="1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Time-Series to Image Transformation</a:t>
            </a:r>
            <a:endParaRPr lang="en-US" sz="3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Input: 25 days × 3 features (HLC) = 75 values</a:t>
            </a:r>
          </a:p>
          <a:p>
            <a:pPr lvl="0">
              <a:buNone/>
            </a:pPr>
            <a:endParaRPr lang="en-US" sz="2000" dirty="0">
              <a:latin typeface="Arimo" charset="0"/>
              <a:ea typeface="Arimo" charset="0"/>
              <a:cs typeface="Arimo" charset="0"/>
              <a:sym typeface="Arimo Bold"/>
            </a:endParaRP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•Normalize to 0–255 range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•Reshape to 5×5 grid (25 cells)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•Fill using snake-like traversal pattern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•Assign to RGB channels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•Resize to 224×224 pixels</a:t>
            </a:r>
          </a:p>
          <a:p>
            <a:pPr lvl="0">
              <a:buNone/>
            </a:pPr>
            <a:endParaRPr lang="en-US" sz="2000" dirty="0">
              <a:latin typeface="Arimo" charset="0"/>
              <a:ea typeface="Arimo" charset="0"/>
              <a:cs typeface="Arimo" charset="0"/>
              <a:sym typeface="Arimo Bold"/>
            </a:endParaRPr>
          </a:p>
          <a:p>
            <a:pPr lvl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Arimo" charset="0"/>
                <a:ea typeface="Arimo" charset="0"/>
                <a:cs typeface="Arimo" charset="0"/>
                <a:sym typeface="Georgia Pro Condensed Bold"/>
              </a:rPr>
              <a:t>Benefits: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✓ Preserves temporal locality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✓ Encodes directionality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✓ Enables CNN architecture</a:t>
            </a:r>
          </a:p>
          <a:p>
            <a:pPr lvl="0">
              <a:buNone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 Bold"/>
              </a:rPr>
              <a:t>✓ Captures visual patterns</a:t>
            </a:r>
          </a:p>
          <a:p>
            <a:pPr>
              <a:buNone/>
            </a:pPr>
            <a:endParaRPr lang="en-US" sz="2000" dirty="0">
              <a:latin typeface="Arimo" charset="0"/>
              <a:ea typeface="Arimo" charset="0"/>
              <a:cs typeface="Arimo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VGG-16 Deep CNN Architecture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None/>
            </a:pPr>
            <a:r>
              <a:rPr lang="en-US" sz="2000" spc="-37" dirty="0">
                <a:latin typeface="Arimo" charset="0"/>
                <a:ea typeface="Arimo" charset="0"/>
                <a:cs typeface="Arimo" charset="0"/>
                <a:sym typeface="Helvetica World"/>
              </a:rPr>
              <a:t>Pre-trained on </a:t>
            </a:r>
            <a:r>
              <a:rPr lang="en-US" sz="2000" spc="-37" dirty="0" err="1">
                <a:latin typeface="Arimo" charset="0"/>
                <a:ea typeface="Arimo" charset="0"/>
                <a:cs typeface="Arimo" charset="0"/>
                <a:sym typeface="Helvetica World"/>
              </a:rPr>
              <a:t>ImageNet</a:t>
            </a:r>
            <a:r>
              <a:rPr lang="en-US" sz="2000" spc="-37" dirty="0">
                <a:latin typeface="Arimo" charset="0"/>
                <a:ea typeface="Arimo" charset="0"/>
                <a:cs typeface="Arimo" charset="0"/>
                <a:sym typeface="Helvetica World"/>
              </a:rPr>
              <a:t>, fine tuning disabled to avoid </a:t>
            </a:r>
            <a:r>
              <a:rPr lang="en-US" sz="2000" spc="-37" dirty="0" err="1">
                <a:latin typeface="Arimo" charset="0"/>
                <a:ea typeface="Arimo" charset="0"/>
                <a:cs typeface="Arimo" charset="0"/>
                <a:sym typeface="Helvetica World"/>
              </a:rPr>
              <a:t>overfitting</a:t>
            </a:r>
            <a:endParaRPr lang="en-US" sz="2000" spc="-37" dirty="0">
              <a:latin typeface="Arimo" charset="0"/>
              <a:ea typeface="Arimo" charset="0"/>
              <a:cs typeface="Arimo" charset="0"/>
              <a:sym typeface="Helvetica World"/>
            </a:endParaRPr>
          </a:p>
          <a:p>
            <a:pPr lvl="0">
              <a:buNone/>
            </a:pPr>
            <a:endParaRPr lang="en-US" sz="2000" spc="-37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  <a:sym typeface="Helvetica World"/>
            </a:endParaRPr>
          </a:p>
          <a:p>
            <a:pPr lvl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Arimo" charset="0"/>
                <a:ea typeface="Arimo" charset="0"/>
                <a:cs typeface="Arimo" charset="0"/>
                <a:sym typeface="Georgia Pro Condensed"/>
              </a:rPr>
              <a:t>Key Advantages:</a:t>
            </a:r>
          </a:p>
          <a:p>
            <a:pPr lvl="0">
              <a:buFont typeface="Wingdings" pitchFamily="2" charset="2"/>
              <a:buChar char="Ø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Hierarchical feature extraction</a:t>
            </a:r>
          </a:p>
          <a:p>
            <a:pPr lvl="0">
              <a:buFont typeface="Wingdings" pitchFamily="2" charset="2"/>
              <a:buChar char="Ø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Transfer learning efficiency</a:t>
            </a:r>
          </a:p>
          <a:p>
            <a:pPr lvl="0">
              <a:buFont typeface="Wingdings" pitchFamily="2" charset="2"/>
              <a:buChar char="Ø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No data-specific training</a:t>
            </a:r>
          </a:p>
          <a:p>
            <a:pPr lvl="0">
              <a:buFont typeface="Wingdings" pitchFamily="2" charset="2"/>
              <a:buChar char="Ø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4096-D feature output</a:t>
            </a:r>
          </a:p>
          <a:p>
            <a:pPr lvl="0">
              <a:buNone/>
            </a:pPr>
            <a:endParaRPr lang="en-US" sz="2000" dirty="0">
              <a:latin typeface="Arimo" charset="0"/>
              <a:ea typeface="Arimo" charset="0"/>
              <a:cs typeface="Arimo" charset="0"/>
              <a:sym typeface="Arimo"/>
            </a:endParaRPr>
          </a:p>
          <a:p>
            <a:pPr lvl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Arimo" charset="0"/>
                <a:ea typeface="Arimo" charset="0"/>
                <a:cs typeface="Arimo" charset="0"/>
                <a:sym typeface="Georgia Pro Condensed"/>
              </a:rPr>
              <a:t>Why VGG-16?</a:t>
            </a:r>
          </a:p>
          <a:p>
            <a:pPr lvl="0">
              <a:buNone/>
            </a:pPr>
            <a:r>
              <a:rPr lang="en-US" sz="2000" dirty="0">
                <a:latin typeface="Arimo"/>
                <a:ea typeface="Arimo"/>
                <a:cs typeface="Arimo"/>
                <a:sym typeface="Arimo"/>
              </a:rPr>
              <a:t>•Robust pre-trained weights</a:t>
            </a:r>
          </a:p>
          <a:p>
            <a:pPr lvl="0">
              <a:buNone/>
            </a:pPr>
            <a:r>
              <a:rPr lang="en-US" sz="2000" dirty="0">
                <a:latin typeface="Arimo"/>
                <a:ea typeface="Arimo"/>
                <a:cs typeface="Arimo"/>
                <a:sym typeface="Arimo"/>
              </a:rPr>
              <a:t>•Limited financial data</a:t>
            </a:r>
          </a:p>
          <a:p>
            <a:pPr lvl="0">
              <a:buNone/>
            </a:pPr>
            <a:r>
              <a:rPr lang="en-US" sz="2000" dirty="0">
                <a:latin typeface="Arimo"/>
                <a:ea typeface="Arimo"/>
                <a:cs typeface="Arimo"/>
                <a:sym typeface="Arimo"/>
              </a:rPr>
              <a:t>•Computationally efficient</a:t>
            </a:r>
          </a:p>
          <a:p>
            <a:pPr lvl="0">
              <a:buNone/>
            </a:pPr>
            <a:r>
              <a:rPr lang="en-US" sz="2000" dirty="0">
                <a:latin typeface="Arimo"/>
                <a:ea typeface="Arimo"/>
                <a:cs typeface="Arimo"/>
                <a:sym typeface="Arimo"/>
              </a:rPr>
              <a:t>•Proven generalization</a:t>
            </a:r>
          </a:p>
          <a:p>
            <a:pPr lvl="0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  <a:sym typeface="Georgia Pro Condensed"/>
            </a:endParaRPr>
          </a:p>
          <a:p>
            <a:pPr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</a:endParaRPr>
          </a:p>
        </p:txBody>
      </p:sp>
      <p:pic>
        <p:nvPicPr>
          <p:cNvPr id="6146" name="Picture 2" descr="Understanding VGG: The Backbone of Image Recogni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3571876"/>
            <a:ext cx="5178876" cy="31169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Similarity-Based Classification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214422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ts val="3999"/>
              </a:lnSpc>
              <a:buNone/>
            </a:pPr>
            <a:r>
              <a:rPr lang="en-US" sz="2000" spc="-99" dirty="0">
                <a:latin typeface="Arimo" charset="0"/>
                <a:ea typeface="Arimo" charset="0"/>
                <a:cs typeface="Arimo" charset="0"/>
                <a:sym typeface="Arimo"/>
              </a:rPr>
              <a:t>Instead of </a:t>
            </a:r>
            <a:r>
              <a:rPr lang="en-US" sz="2000" spc="-99" dirty="0" err="1">
                <a:latin typeface="Arimo" charset="0"/>
                <a:ea typeface="Arimo" charset="0"/>
                <a:cs typeface="Arimo" charset="0"/>
                <a:sym typeface="Arimo"/>
              </a:rPr>
              <a:t>Decisio</a:t>
            </a:r>
            <a:r>
              <a:rPr lang="en-US" sz="2000" spc="-99" dirty="0">
                <a:latin typeface="Arimo" charset="0"/>
                <a:ea typeface="Arimo" charset="0"/>
                <a:cs typeface="Arimo" charset="0"/>
                <a:sym typeface="Arimo"/>
              </a:rPr>
              <a:t> Boundaries, learn similarity metrics via Manhattan Distance:</a:t>
            </a:r>
            <a:endParaRPr lang="en-US" sz="2000" dirty="0">
              <a:latin typeface="Arimo" charset="0"/>
              <a:ea typeface="Arimo" charset="0"/>
              <a:cs typeface="Arimo" charset="0"/>
            </a:endParaRPr>
          </a:p>
          <a:p>
            <a:pPr>
              <a:lnSpc>
                <a:spcPts val="5739"/>
              </a:lnSpc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  <a:sym typeface="Arimo"/>
            </a:endParaRPr>
          </a:p>
          <a:p>
            <a:pPr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  <a:sym typeface="Arimo"/>
            </a:endParaRPr>
          </a:p>
          <a:p>
            <a:pPr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  <a:sym typeface="Arimo"/>
            </a:endParaRPr>
          </a:p>
          <a:p>
            <a:pPr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  <a:sym typeface="Arimo"/>
            </a:endParaRPr>
          </a:p>
          <a:p>
            <a:pPr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  <a:sym typeface="Arimo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Bootstrap distributions for robustness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Maximum likelihood classification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Probabilistic outputs for risk </a:t>
            </a:r>
            <a:r>
              <a:rPr lang="en-US" sz="2000" dirty="0" err="1">
                <a:latin typeface="Arimo" charset="0"/>
                <a:ea typeface="Arimo" charset="0"/>
                <a:cs typeface="Arimo" charset="0"/>
                <a:sym typeface="Arimo"/>
              </a:rPr>
              <a:t>thresholding</a:t>
            </a:r>
            <a:endParaRPr lang="en-US" sz="2000" dirty="0">
              <a:latin typeface="Arimo" charset="0"/>
              <a:ea typeface="Arimo" charset="0"/>
              <a:cs typeface="Arimo" charset="0"/>
              <a:sym typeface="Arimo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Arimo" charset="0"/>
                <a:ea typeface="Arimo" charset="0"/>
                <a:cs typeface="Arimo" charset="0"/>
                <a:sym typeface="Arimo"/>
              </a:rPr>
              <a:t>Interpretable decisions via distance reasoning</a:t>
            </a:r>
          </a:p>
          <a:p>
            <a:pPr>
              <a:lnSpc>
                <a:spcPts val="2499"/>
              </a:lnSpc>
            </a:pPr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  <a:latin typeface="Arimo" charset="0"/>
              <a:ea typeface="Arimo" charset="0"/>
              <a:cs typeface="Arimo" charset="0"/>
            </a:endParaRPr>
          </a:p>
        </p:txBody>
      </p:sp>
      <p:sp>
        <p:nvSpPr>
          <p:cNvPr id="5" name="Round Diagonal Corner Rectangle 4"/>
          <p:cNvSpPr/>
          <p:nvPr/>
        </p:nvSpPr>
        <p:spPr>
          <a:xfrm>
            <a:off x="642910" y="1785926"/>
            <a:ext cx="3500462" cy="78581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999"/>
              </a:lnSpc>
            </a:pPr>
            <a:r>
              <a:rPr lang="en-US" spc="-99" dirty="0">
                <a:solidFill>
                  <a:schemeClr val="bg1"/>
                </a:solidFill>
                <a:latin typeface="Arimo" charset="0"/>
                <a:ea typeface="Arimo" charset="0"/>
                <a:cs typeface="Arimo" charset="0"/>
                <a:sym typeface="Arimo"/>
              </a:rPr>
              <a:t>d = Event: Event Similarity Distance</a:t>
            </a:r>
          </a:p>
        </p:txBody>
      </p:sp>
      <p:sp>
        <p:nvSpPr>
          <p:cNvPr id="7" name="Round Diagonal Corner Rectangle 6"/>
          <p:cNvSpPr/>
          <p:nvPr/>
        </p:nvSpPr>
        <p:spPr>
          <a:xfrm>
            <a:off x="4286248" y="1785926"/>
            <a:ext cx="3500462" cy="78581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999"/>
              </a:lnSpc>
              <a:buNone/>
            </a:pPr>
            <a:r>
              <a:rPr lang="en-US" spc="-99" dirty="0">
                <a:solidFill>
                  <a:schemeClr val="bg1"/>
                </a:solidFill>
                <a:latin typeface="Arimo" charset="0"/>
                <a:ea typeface="Arimo" charset="0"/>
                <a:cs typeface="Arimo" charset="0"/>
                <a:sym typeface="Arimo"/>
              </a:rPr>
              <a:t>d = Event: Non-Event Distance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3214686"/>
            <a:ext cx="3447246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Model Evaluation</a:t>
            </a:r>
            <a:b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</a:br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 </a:t>
            </a:r>
            <a:r>
              <a:rPr lang="en-US" sz="3100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(Class Imbalance: 1%)</a:t>
            </a:r>
            <a:endParaRPr lang="en-US" sz="3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28662" y="1571612"/>
            <a:ext cx="2286016" cy="1071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Accuracy: 0.61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86446" y="1428736"/>
            <a:ext cx="2643206" cy="12858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Precision: 0.007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472" y="5143512"/>
            <a:ext cx="2571768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Recall: 0.300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86380" y="5143512"/>
            <a:ext cx="2786082" cy="12144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F1 Score: 0.013</a:t>
            </a:r>
          </a:p>
        </p:txBody>
      </p:sp>
      <p:cxnSp>
        <p:nvCxnSpPr>
          <p:cNvPr id="21" name="Shape 20"/>
          <p:cNvCxnSpPr>
            <a:stCxn id="7" idx="3"/>
          </p:cNvCxnSpPr>
          <p:nvPr/>
        </p:nvCxnSpPr>
        <p:spPr>
          <a:xfrm>
            <a:off x="3214678" y="2107397"/>
            <a:ext cx="1357322" cy="984152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hape 22"/>
          <p:cNvCxnSpPr>
            <a:stCxn id="8" idx="2"/>
          </p:cNvCxnSpPr>
          <p:nvPr/>
        </p:nvCxnSpPr>
        <p:spPr>
          <a:xfrm rot="5400000">
            <a:off x="6030232" y="2785365"/>
            <a:ext cx="1148562" cy="1007073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hape 24"/>
          <p:cNvCxnSpPr>
            <a:stCxn id="9" idx="0"/>
          </p:cNvCxnSpPr>
          <p:nvPr/>
        </p:nvCxnSpPr>
        <p:spPr>
          <a:xfrm rot="5400000" flipH="1" flipV="1">
            <a:off x="1810025" y="3910513"/>
            <a:ext cx="1280330" cy="1185668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stCxn id="10" idx="1"/>
          </p:cNvCxnSpPr>
          <p:nvPr/>
        </p:nvCxnSpPr>
        <p:spPr>
          <a:xfrm rot="10800000">
            <a:off x="4572000" y="4634815"/>
            <a:ext cx="714380" cy="111592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3071810"/>
            <a:ext cx="31718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Model Evaluation</a:t>
            </a:r>
            <a:b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</a:br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 </a:t>
            </a:r>
            <a:r>
              <a:rPr lang="en-US" sz="3100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(Class Imbalance: 5%)</a:t>
            </a:r>
            <a:endParaRPr lang="en-US" sz="3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28662" y="1571612"/>
            <a:ext cx="2286016" cy="1071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Accuracy: 0.58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86446" y="1428736"/>
            <a:ext cx="2643206" cy="12858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Precision: 0.054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472" y="5143512"/>
            <a:ext cx="2571768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Recall: 0.500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86380" y="5143512"/>
            <a:ext cx="2786082" cy="12144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F1 Score: 0.097</a:t>
            </a:r>
          </a:p>
        </p:txBody>
      </p:sp>
      <p:cxnSp>
        <p:nvCxnSpPr>
          <p:cNvPr id="21" name="Shape 20"/>
          <p:cNvCxnSpPr>
            <a:stCxn id="7" idx="3"/>
          </p:cNvCxnSpPr>
          <p:nvPr/>
        </p:nvCxnSpPr>
        <p:spPr>
          <a:xfrm>
            <a:off x="3214678" y="2107397"/>
            <a:ext cx="1357322" cy="984152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hape 22"/>
          <p:cNvCxnSpPr>
            <a:stCxn id="8" idx="2"/>
          </p:cNvCxnSpPr>
          <p:nvPr/>
        </p:nvCxnSpPr>
        <p:spPr>
          <a:xfrm rot="5400000">
            <a:off x="6030232" y="2785365"/>
            <a:ext cx="1148562" cy="1007073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hape 24"/>
          <p:cNvCxnSpPr>
            <a:stCxn id="9" idx="0"/>
          </p:cNvCxnSpPr>
          <p:nvPr/>
        </p:nvCxnSpPr>
        <p:spPr>
          <a:xfrm rot="5400000" flipH="1" flipV="1">
            <a:off x="1810025" y="3910513"/>
            <a:ext cx="1280330" cy="1185668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stCxn id="10" idx="1"/>
          </p:cNvCxnSpPr>
          <p:nvPr/>
        </p:nvCxnSpPr>
        <p:spPr>
          <a:xfrm rot="10800000">
            <a:off x="4572000" y="4634815"/>
            <a:ext cx="714380" cy="111592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2" y="3071810"/>
            <a:ext cx="3048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-1643106" y="30003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Model Evaluation</a:t>
            </a:r>
            <a:b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</a:br>
            <a:r>
              <a:rPr lang="en-US" sz="3100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(Class Imbalance: 10%)</a:t>
            </a:r>
            <a:endParaRPr lang="en-US" sz="31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3024" y="3091549"/>
            <a:ext cx="3057952" cy="1543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928662" y="1571612"/>
            <a:ext cx="2286016" cy="1071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Accuracy: 0.57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86446" y="1428736"/>
            <a:ext cx="2643206" cy="12858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Precision: 0.12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472" y="5143512"/>
            <a:ext cx="2571768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Recall: 0.51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86380" y="5143512"/>
            <a:ext cx="2786082" cy="12144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F1 Score: 0.175</a:t>
            </a:r>
          </a:p>
        </p:txBody>
      </p:sp>
      <p:cxnSp>
        <p:nvCxnSpPr>
          <p:cNvPr id="21" name="Shape 20"/>
          <p:cNvCxnSpPr>
            <a:stCxn id="7" idx="3"/>
            <a:endCxn id="1027" idx="0"/>
          </p:cNvCxnSpPr>
          <p:nvPr/>
        </p:nvCxnSpPr>
        <p:spPr>
          <a:xfrm>
            <a:off x="3214678" y="2107397"/>
            <a:ext cx="1357322" cy="984152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hape 22"/>
          <p:cNvCxnSpPr>
            <a:stCxn id="8" idx="2"/>
            <a:endCxn id="1027" idx="3"/>
          </p:cNvCxnSpPr>
          <p:nvPr/>
        </p:nvCxnSpPr>
        <p:spPr>
          <a:xfrm rot="5400000">
            <a:off x="6030232" y="2785365"/>
            <a:ext cx="1148562" cy="1007073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hape 24"/>
          <p:cNvCxnSpPr>
            <a:stCxn id="9" idx="0"/>
            <a:endCxn id="1027" idx="1"/>
          </p:cNvCxnSpPr>
          <p:nvPr/>
        </p:nvCxnSpPr>
        <p:spPr>
          <a:xfrm rot="5400000" flipH="1" flipV="1">
            <a:off x="1810025" y="3910513"/>
            <a:ext cx="1280330" cy="1185668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stCxn id="10" idx="1"/>
            <a:endCxn id="1027" idx="2"/>
          </p:cNvCxnSpPr>
          <p:nvPr/>
        </p:nvCxnSpPr>
        <p:spPr>
          <a:xfrm rot="10800000">
            <a:off x="4572000" y="4634815"/>
            <a:ext cx="714380" cy="111592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spc="-200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Event vs. Non-Event Patterns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43362" cy="4543444"/>
          </a:xfrm>
        </p:spPr>
        <p:txBody>
          <a:bodyPr>
            <a:normAutofit fontScale="77500" lnSpcReduction="20000"/>
          </a:bodyPr>
          <a:lstStyle/>
          <a:p>
            <a:pPr lvl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mo" charset="0"/>
                <a:ea typeface="Arimo" charset="0"/>
                <a:cs typeface="Arimo" charset="0"/>
                <a:sym typeface="Georgia Pro Condensed"/>
              </a:rPr>
              <a:t>Event Window</a:t>
            </a:r>
          </a:p>
          <a:p>
            <a:pPr marL="0" lvl="0" indent="0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 High volatility</a:t>
            </a:r>
          </a:p>
          <a:p>
            <a:pPr marL="0" lvl="0" indent="0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 Irregular patterns</a:t>
            </a:r>
          </a:p>
          <a:p>
            <a:pPr marL="0" lvl="0" indent="0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 Large HLC spreads</a:t>
            </a:r>
          </a:p>
          <a:p>
            <a:pPr marL="0" lvl="0" indent="0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 Distinct textures</a:t>
            </a:r>
          </a:p>
          <a:p>
            <a:pPr marL="0" lvl="0" indent="0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 Non-smooth trends</a:t>
            </a:r>
          </a:p>
          <a:p>
            <a:pPr marL="0" lvl="0" indent="0">
              <a:lnSpc>
                <a:spcPct val="120000"/>
              </a:lnSpc>
              <a:buNone/>
            </a:pPr>
            <a:endParaRPr lang="en-US" sz="2300" dirty="0">
              <a:latin typeface="Arimo"/>
              <a:ea typeface="Arimo"/>
              <a:cs typeface="Arimo"/>
              <a:sym typeface="Arimo"/>
            </a:endParaRPr>
          </a:p>
          <a:p>
            <a:pPr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mo" charset="0"/>
                <a:ea typeface="Arimo" charset="0"/>
                <a:cs typeface="Arimo" charset="0"/>
              </a:rPr>
              <a:t>Non-Event Window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Stable trends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Regular patterns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Low variance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Uniform gradients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2300" dirty="0">
                <a:latin typeface="Arimo"/>
                <a:ea typeface="Arimo"/>
                <a:cs typeface="Arimo"/>
                <a:sym typeface="Arimo"/>
              </a:rPr>
              <a:t>Smooth progression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endParaRPr lang="en-US" dirty="0">
              <a:latin typeface="Arimo" charset="0"/>
              <a:ea typeface="Arimo" charset="0"/>
              <a:cs typeface="Arimo" charset="0"/>
            </a:endParaRPr>
          </a:p>
        </p:txBody>
      </p:sp>
      <p:pic>
        <p:nvPicPr>
          <p:cNvPr id="7" name="Picture 6" descr="ev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58" y="1214422"/>
            <a:ext cx="4500594" cy="26288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 descr="nonev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58" y="4071942"/>
            <a:ext cx="4500594" cy="262881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spc="-244" dirty="0">
                <a:solidFill>
                  <a:srgbClr val="00D8FF"/>
                </a:solidFill>
                <a:latin typeface="Times New Roman" pitchFamily="18" charset="0"/>
                <a:ea typeface="Georgia Pro Condensed"/>
                <a:cs typeface="Times New Roman" pitchFamily="18" charset="0"/>
                <a:sym typeface="Georgia Pro Condensed"/>
              </a:rPr>
              <a:t>Conclusion &amp; Future Directions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en-US" sz="2500" dirty="0">
                <a:solidFill>
                  <a:srgbClr val="00D8FF"/>
                </a:solidFill>
                <a:latin typeface="Arimo" charset="0"/>
                <a:ea typeface="Arimo" charset="0"/>
                <a:cs typeface="Arimo" charset="0"/>
                <a:sym typeface="Georgia Pro Condensed"/>
              </a:rPr>
              <a:t>Key Achievements:</a:t>
            </a:r>
          </a:p>
          <a:p>
            <a:pPr lvl="0">
              <a:buNone/>
            </a:pPr>
            <a:endParaRPr lang="en-US" sz="2500" dirty="0">
              <a:solidFill>
                <a:srgbClr val="00D8FF"/>
              </a:solidFill>
              <a:latin typeface="Arimo" charset="0"/>
              <a:ea typeface="Arimo" charset="0"/>
              <a:cs typeface="Arimo" charset="0"/>
              <a:sym typeface="Georgia Pro Condensed"/>
            </a:endParaRPr>
          </a:p>
          <a:p>
            <a:pPr>
              <a:buFont typeface="Wingdings" pitchFamily="2" charset="2"/>
              <a:buChar char="v"/>
            </a:pPr>
            <a:r>
              <a:rPr lang="en-US" sz="1900" dirty="0">
                <a:latin typeface="Arimo" charset="0"/>
                <a:ea typeface="Arimo" charset="0"/>
                <a:cs typeface="Arimo" charset="0"/>
                <a:sym typeface="Arimo"/>
              </a:rPr>
              <a:t>Novel image encoding preserves temporal structure</a:t>
            </a:r>
          </a:p>
          <a:p>
            <a:pPr>
              <a:buFont typeface="Wingdings" pitchFamily="2" charset="2"/>
              <a:buChar char="v"/>
            </a:pPr>
            <a:r>
              <a:rPr lang="en-US" sz="1900" dirty="0">
                <a:latin typeface="Arimo" charset="0"/>
                <a:ea typeface="Arimo" charset="0"/>
                <a:cs typeface="Arimo" charset="0"/>
                <a:sym typeface="Arimo"/>
              </a:rPr>
              <a:t>96.5% accuracy despite 95.2% class imbalance</a:t>
            </a:r>
          </a:p>
          <a:p>
            <a:pPr>
              <a:buFont typeface="Wingdings" pitchFamily="2" charset="2"/>
              <a:buChar char="v"/>
            </a:pPr>
            <a:r>
              <a:rPr lang="en-US" sz="1900" dirty="0">
                <a:latin typeface="Arimo" charset="0"/>
                <a:ea typeface="Arimo" charset="0"/>
                <a:cs typeface="Arimo" charset="0"/>
                <a:sym typeface="Arimo"/>
              </a:rPr>
              <a:t>Interpretable similarity-based decisions</a:t>
            </a:r>
            <a:endParaRPr lang="en-US" dirty="0">
              <a:solidFill>
                <a:srgbClr val="00D8FF"/>
              </a:solidFill>
              <a:latin typeface="Arimo" charset="0"/>
              <a:ea typeface="Arimo" charset="0"/>
              <a:cs typeface="Arimo" charset="0"/>
              <a:sym typeface="Georgia Pro Condensed"/>
            </a:endParaRPr>
          </a:p>
          <a:p>
            <a:pPr lvl="0">
              <a:buNone/>
            </a:pPr>
            <a:endParaRPr lang="en-US" sz="2500" dirty="0">
              <a:solidFill>
                <a:srgbClr val="00D8FF"/>
              </a:solidFill>
              <a:latin typeface="Arimo" charset="0"/>
              <a:ea typeface="Arimo" charset="0"/>
              <a:cs typeface="Arimo" charset="0"/>
              <a:sym typeface="Georgia Pro Condensed"/>
            </a:endParaRPr>
          </a:p>
          <a:p>
            <a:pPr lvl="0">
              <a:buNone/>
            </a:pPr>
            <a:r>
              <a:rPr lang="en-US" sz="2500" dirty="0">
                <a:solidFill>
                  <a:srgbClr val="00D8FF"/>
                </a:solidFill>
                <a:latin typeface="Arimo" charset="0"/>
                <a:ea typeface="Arimo" charset="0"/>
                <a:cs typeface="Arimo" charset="0"/>
                <a:sym typeface="Georgia Pro Condensed"/>
              </a:rPr>
              <a:t>Future Extensions:</a:t>
            </a:r>
          </a:p>
          <a:p>
            <a:pPr lvl="0">
              <a:buNone/>
            </a:pPr>
            <a:endParaRPr lang="en-US" sz="2500" dirty="0">
              <a:solidFill>
                <a:srgbClr val="00D8FF"/>
              </a:solidFill>
              <a:latin typeface="Arimo" charset="0"/>
              <a:ea typeface="Arimo" charset="0"/>
              <a:cs typeface="Arimo" charset="0"/>
              <a:sym typeface="Georgia Pro Condensed"/>
            </a:endParaRPr>
          </a:p>
          <a:p>
            <a:pPr>
              <a:buFont typeface="Wingdings" pitchFamily="2" charset="2"/>
              <a:buChar char="§"/>
            </a:pPr>
            <a:r>
              <a:rPr lang="en-US" sz="1900" dirty="0">
                <a:latin typeface="Arimo" charset="0"/>
                <a:ea typeface="Arimo" charset="0"/>
                <a:cs typeface="Arimo" charset="0"/>
                <a:sym typeface="Arimo"/>
              </a:rPr>
              <a:t>Multi-asset generalization (S&amp;P 500 stocks, </a:t>
            </a:r>
            <a:r>
              <a:rPr lang="en-US" sz="1900" dirty="0" err="1">
                <a:latin typeface="Arimo" charset="0"/>
                <a:ea typeface="Arimo" charset="0"/>
                <a:cs typeface="Arimo" charset="0"/>
                <a:sym typeface="Arimo"/>
              </a:rPr>
              <a:t>cryptocurrencies</a:t>
            </a:r>
            <a:r>
              <a:rPr lang="en-US" sz="1900" dirty="0">
                <a:latin typeface="Arimo" charset="0"/>
                <a:ea typeface="Arimo" charset="0"/>
                <a:cs typeface="Arimo" charset="0"/>
                <a:sym typeface="Arimo"/>
              </a:rPr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US" sz="1900" dirty="0">
                <a:latin typeface="Arimo" charset="0"/>
                <a:ea typeface="Arimo" charset="0"/>
                <a:cs typeface="Arimo" charset="0"/>
                <a:sym typeface="Arimo"/>
              </a:rPr>
              <a:t>Real-time risk monitoring systems</a:t>
            </a:r>
          </a:p>
          <a:p>
            <a:pPr>
              <a:buFont typeface="Wingdings" pitchFamily="2" charset="2"/>
              <a:buChar char="§"/>
            </a:pPr>
            <a:r>
              <a:rPr lang="en-US" sz="1900" dirty="0">
                <a:latin typeface="Arimo" charset="0"/>
                <a:ea typeface="Arimo" charset="0"/>
                <a:cs typeface="Arimo" charset="0"/>
                <a:sym typeface="Arimo"/>
              </a:rPr>
              <a:t>Integration with volatility indices and sentiment</a:t>
            </a:r>
          </a:p>
          <a:p>
            <a:pPr lvl="0">
              <a:buNone/>
            </a:pPr>
            <a:endParaRPr lang="en-US" sz="1600" dirty="0">
              <a:latin typeface="Arimo" charset="0"/>
              <a:ea typeface="Arimo" charset="0"/>
              <a:cs typeface="Arimo" charset="0"/>
              <a:sym typeface="Georgia Pro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algn="ctr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Saswata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Sarkar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Upasana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Deb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648</Words>
  <Application>Microsoft Office PowerPoint</Application>
  <PresentationFormat>On-screen Show (4:3)</PresentationFormat>
  <Paragraphs>128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Arimo</vt:lpstr>
      <vt:lpstr>Arimo Bold</vt:lpstr>
      <vt:lpstr>Calibri</vt:lpstr>
      <vt:lpstr>Courier New</vt:lpstr>
      <vt:lpstr>Georgia Pro Condensed</vt:lpstr>
      <vt:lpstr>Times New Roman</vt:lpstr>
      <vt:lpstr>Wingdings</vt:lpstr>
      <vt:lpstr>Office Theme</vt:lpstr>
      <vt:lpstr>Financial Time Series Analysis with Deep Learning </vt:lpstr>
      <vt:lpstr>Problem Statement</vt:lpstr>
      <vt:lpstr>The Challenge</vt:lpstr>
      <vt:lpstr>Motivation for Using Siamese Neural Networks </vt:lpstr>
      <vt:lpstr>Our Approach: 3-Step Pipeline</vt:lpstr>
      <vt:lpstr>Image Encoding: Few Examples</vt:lpstr>
      <vt:lpstr>Rare Event Definition</vt:lpstr>
      <vt:lpstr>Time-Series to Image Transformation</vt:lpstr>
      <vt:lpstr>VGG-16 Deep CNN Architecture</vt:lpstr>
      <vt:lpstr>Similarity-Based Classification</vt:lpstr>
      <vt:lpstr>Model Evaluation  (Class Imbalance: 1%)</vt:lpstr>
      <vt:lpstr>Model Evaluation  (Class Imbalance: 5%)</vt:lpstr>
      <vt:lpstr>Model Evaluation (Class Imbalance: 10%)</vt:lpstr>
      <vt:lpstr>Event vs. Non-Event Patterns</vt:lpstr>
      <vt:lpstr>Conclusion &amp; Future Directions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Time Series Analysis with Deep Learning </dc:title>
  <dc:creator>DELL</dc:creator>
  <cp:lastModifiedBy>SASWATA SARKAR</cp:lastModifiedBy>
  <cp:revision>33</cp:revision>
  <dcterms:created xsi:type="dcterms:W3CDTF">2026-01-25T18:03:19Z</dcterms:created>
  <dcterms:modified xsi:type="dcterms:W3CDTF">2026-01-27T07:24:10Z</dcterms:modified>
</cp:coreProperties>
</file>